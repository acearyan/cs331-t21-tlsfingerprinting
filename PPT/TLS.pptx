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Urbanist Medium"/>
      <p:regular r:id="rId21"/>
      <p:bold r:id="rId22"/>
      <p:italic r:id="rId23"/>
      <p:boldItalic r:id="rId24"/>
    </p:embeddedFont>
    <p:embeddedFont>
      <p:font typeface="Urbanist SemiBold"/>
      <p:regular r:id="rId25"/>
      <p:bold r:id="rId26"/>
      <p:italic r:id="rId27"/>
      <p:boldItalic r:id="rId28"/>
    </p:embeddedFont>
    <p:embeddedFont>
      <p:font typeface="Urbanis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453EB1-9182-4FAD-B2E6-EAC0C399E1D1}">
  <a:tblStyle styleId="{A4453EB1-9182-4FAD-B2E6-EAC0C399E1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22" Type="http://schemas.openxmlformats.org/officeDocument/2006/relationships/font" Target="fonts/UrbanistMedium-bold.fntdata"/><Relationship Id="rId21" Type="http://schemas.openxmlformats.org/officeDocument/2006/relationships/font" Target="fonts/UrbanistMedium-regular.fntdata"/><Relationship Id="rId24" Type="http://schemas.openxmlformats.org/officeDocument/2006/relationships/font" Target="fonts/UrbanistMedium-boldItalic.fntdata"/><Relationship Id="rId23" Type="http://schemas.openxmlformats.org/officeDocument/2006/relationships/font" Target="fonts/Urbanis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bold.fntdata"/><Relationship Id="rId25" Type="http://schemas.openxmlformats.org/officeDocument/2006/relationships/font" Target="fonts/UrbanistSemiBold-regular.fntdata"/><Relationship Id="rId28" Type="http://schemas.openxmlformats.org/officeDocument/2006/relationships/font" Target="fonts/UrbanistSemiBold-boldItalic.fntdata"/><Relationship Id="rId27" Type="http://schemas.openxmlformats.org/officeDocument/2006/relationships/font" Target="fonts/Urbanist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italic.fntdata"/><Relationship Id="rId30" Type="http://schemas.openxmlformats.org/officeDocument/2006/relationships/font" Target="fonts/Urbanis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Urbanist-boldItalic.fntdata"/><Relationship Id="rId13" Type="http://schemas.openxmlformats.org/officeDocument/2006/relationships/font" Target="fonts/Raleway-regular.fntdata"/><Relationship Id="rId12" Type="http://schemas.openxmlformats.org/officeDocument/2006/relationships/slide" Target="slides/slide6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Lato-italic.fntdata"/><Relationship Id="rId1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a9c60723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a9c60723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a9bbb027e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fa9bbb027e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a9c60723d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a9c60723d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a9c60723d_13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a9c60723d_1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aa5a5151d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faa5a5151d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a9c60723d_13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a9c60723d_13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" name="Google Shape;89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1" name="Google Shape;91;p1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92" name="Google Shape;92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3" name="Google Shape;103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5" name="Google Shape;105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09" name="Google Shape;109;p1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18" name="Google Shape;118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5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0" name="Google Shape;120;p15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2" name="Google Shape;122;p15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5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5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5" name="Google Shape;135;p16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36" name="Google Shape;136;p16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7" name="Google Shape;137;p16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8" name="Google Shape;138;p16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9" name="Google Shape;139;p16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0" name="Google Shape;140;p16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1" name="Google Shape;141;p16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2" name="Google Shape;142;p16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3" name="Google Shape;143;p16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16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5" name="Google Shape;145;p16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6" name="Google Shape;146;p16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7" name="Google Shape;147;p16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8" name="Google Shape;148;p16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0" name="Google Shape;150;p16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1" name="Google Shape;151;p16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3" name="Google Shape;153;p16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4" name="Google Shape;154;p16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56" name="Google Shape;15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1" name="Google Shape;161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2" name="Google Shape;162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63" name="Google Shape;163;p17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64" name="Google Shape;164;p17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5" name="Google Shape;165;p17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66" name="Google Shape;166;p1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1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8" name="Google Shape;168;p17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69" name="Google Shape;169;p17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72" name="Google Shape;172;p17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73" name="Google Shape;173;p17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4" name="Google Shape;174;p17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76" name="Google Shape;176;p17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77" name="Google Shape;177;p17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80" name="Google Shape;180;p17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1" name="Google Shape;181;p17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84" name="Google Shape;184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18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90" name="Google Shape;190;p18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1" name="Google Shape;191;p1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2" name="Google Shape;192;p1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3" name="Google Shape;193;p1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4" name="Google Shape;194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9" name="Google Shape;199;p19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9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9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9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03" name="Google Shape;203;p19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4" name="Google Shape;204;p19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9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19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9" name="Google Shape;209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11" name="Google Shape;211;p20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20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4" name="Google Shape;214;p2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5" name="Google Shape;215;p2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6" name="Google Shape;216;p20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7" name="Google Shape;217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0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0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26" name="Google Shape;226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9" name="Google Shape;229;p2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31" name="Google Shape;231;p2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234" name="Google Shape;234;p2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6" name="Google Shape;236;p2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_6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2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4" name="Google Shape;244;p2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5" name="Google Shape;245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2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47" name="Google Shape;247;p22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2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9" name="Google Shape;249;p22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2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2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7" name="Google Shape;257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3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2" name="Google Shape;262;p23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3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67" name="Google Shape;267;p23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3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23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1" name="Google Shape;271;p23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2" name="Google Shape;272;p23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3" name="Google Shape;273;p23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4" name="Google Shape;274;p23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0" name="Google Shape;290;p24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1" name="Google Shape;291;p24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2" name="Google Shape;292;p24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3" name="Google Shape;293;p24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4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6" name="Google Shape;296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7" name="Google Shape;297;p24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98" name="Google Shape;298;p24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24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0" name="Google Shape;300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/>
            </a:lvl9pPr>
          </a:lstStyle>
          <a:p/>
        </p:txBody>
      </p:sp>
      <p:sp>
        <p:nvSpPr>
          <p:cNvPr id="304" name="Google Shape;304;p2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5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26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9pPr>
          </a:lstStyle>
          <a:p/>
        </p:txBody>
      </p:sp>
      <p:sp>
        <p:nvSpPr>
          <p:cNvPr id="325" name="Google Shape;325;p26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/>
            </a:lvl9pPr>
          </a:lstStyle>
          <a:p/>
        </p:txBody>
      </p:sp>
      <p:sp>
        <p:nvSpPr>
          <p:cNvPr id="326" name="Google Shape;326;p26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327" name="Google Shape;327;p26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26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26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32" name="Google Shape;332;p26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6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6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8" name="Google Shape;338;p27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9" name="Google Shape;339;p27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40" name="Google Shape;340;p27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1" name="Google Shape;341;p27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2" name="Google Shape;342;p27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3" name="Google Shape;343;p27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4" name="Google Shape;344;p27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5" name="Google Shape;345;p27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6" name="Google Shape;346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27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8" name="Google Shape;348;p27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0" name="Google Shape;350;p27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1" name="Google Shape;351;p27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2" name="Google Shape;352;p27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3" name="Google Shape;353;p27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4" name="Google Shape;354;p27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5" name="Google Shape;355;p27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6" name="Google Shape;356;p27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7" name="Google Shape;357;p27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27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9" name="Google Shape;359;p27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60" name="Google Shape;360;p27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62" name="Google Shape;362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66" name="Google Shape;366;p28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367" name="Google Shape;367;p2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372" name="Google Shape;372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377" name="Google Shape;377;p29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8" name="Google Shape;378;p2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9" name="Google Shape;379;p2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1" name="Google Shape;38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2" name="Google Shape;38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83" name="Google Shape;383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0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3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8" name="Google Shape;388;p3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3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0" name="Google Shape;390;p30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1" name="Google Shape;391;p30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2" name="Google Shape;392;p30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3" name="Google Shape;393;p30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4" name="Google Shape;394;p30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5" name="Google Shape;395;p30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6" name="Google Shape;396;p30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7" name="Google Shape;397;p30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8" name="Google Shape;398;p30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9" name="Google Shape;399;p30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0" name="Google Shape;400;p30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1" name="Google Shape;401;p30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2" name="Google Shape;402;p30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3" name="Google Shape;403;p30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4" name="Google Shape;404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5" name="Google Shape;405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"/>
          <p:cNvSpPr/>
          <p:nvPr/>
        </p:nvSpPr>
        <p:spPr>
          <a:xfrm>
            <a:off x="359630" y="3095250"/>
            <a:ext cx="34119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3992606" y="3095250"/>
            <a:ext cx="26424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12" name="Google Shape;412;p31"/>
          <p:cNvSpPr txBox="1"/>
          <p:nvPr>
            <p:ph type="title"/>
          </p:nvPr>
        </p:nvSpPr>
        <p:spPr>
          <a:xfrm>
            <a:off x="352650" y="1523800"/>
            <a:ext cx="6658800" cy="41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500">
                <a:solidFill>
                  <a:srgbClr val="000000"/>
                </a:solidFill>
              </a:rPr>
              <a:t>TLS Fingerprinting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413" name="Google Shape;413;p31"/>
          <p:cNvSpPr txBox="1"/>
          <p:nvPr>
            <p:ph idx="5" type="subTitle"/>
          </p:nvPr>
        </p:nvSpPr>
        <p:spPr>
          <a:xfrm>
            <a:off x="526596" y="3157775"/>
            <a:ext cx="3083700" cy="22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Mamilla Aniruddh Reddy - 23110195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4" name="Google Shape;414;p31"/>
          <p:cNvSpPr txBox="1"/>
          <p:nvPr>
            <p:ph idx="6" type="subTitle"/>
          </p:nvPr>
        </p:nvSpPr>
        <p:spPr>
          <a:xfrm>
            <a:off x="4119511" y="3157775"/>
            <a:ext cx="2388600" cy="22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Ogiboyina Akash - 23110225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5" name="Google Shape;415;p31"/>
          <p:cNvSpPr txBox="1"/>
          <p:nvPr>
            <p:ph idx="7" type="subTitle"/>
          </p:nvPr>
        </p:nvSpPr>
        <p:spPr>
          <a:xfrm>
            <a:off x="355491" y="26861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TEAM MEMBERS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352650" y="3502725"/>
            <a:ext cx="34119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3987200" y="3502725"/>
            <a:ext cx="26424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18" name="Google Shape;418;p31"/>
          <p:cNvSpPr txBox="1"/>
          <p:nvPr>
            <p:ph idx="5" type="subTitle"/>
          </p:nvPr>
        </p:nvSpPr>
        <p:spPr>
          <a:xfrm>
            <a:off x="519617" y="3565250"/>
            <a:ext cx="3083700" cy="22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Kovid Parmar - 23110172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9" name="Google Shape;419;p31"/>
          <p:cNvSpPr txBox="1"/>
          <p:nvPr>
            <p:ph idx="6" type="subTitle"/>
          </p:nvPr>
        </p:nvSpPr>
        <p:spPr>
          <a:xfrm>
            <a:off x="4114106" y="3565250"/>
            <a:ext cx="2388600" cy="22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Chinthala Shivamani - 22110062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352650" y="3934975"/>
            <a:ext cx="34119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3987200" y="3934975"/>
            <a:ext cx="26424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2" name="Google Shape;422;p31"/>
          <p:cNvSpPr txBox="1"/>
          <p:nvPr>
            <p:ph idx="5" type="subTitle"/>
          </p:nvPr>
        </p:nvSpPr>
        <p:spPr>
          <a:xfrm>
            <a:off x="519617" y="3997500"/>
            <a:ext cx="3083700" cy="22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Kudumula Vinod Kumar Reddy - 231101728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3" name="Google Shape;423;p31"/>
          <p:cNvSpPr txBox="1"/>
          <p:nvPr>
            <p:ph idx="6" type="subTitle"/>
          </p:nvPr>
        </p:nvSpPr>
        <p:spPr>
          <a:xfrm>
            <a:off x="4114106" y="3997500"/>
            <a:ext cx="2388600" cy="22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Aryan Kumar - 24110055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4" name="Google Shape;424;p31"/>
          <p:cNvSpPr txBox="1"/>
          <p:nvPr>
            <p:ph idx="1" type="subTitle"/>
          </p:nvPr>
        </p:nvSpPr>
        <p:spPr>
          <a:xfrm>
            <a:off x="352650" y="1169950"/>
            <a:ext cx="5141700" cy="15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CS 331 COMPUTER </a:t>
            </a:r>
            <a:r>
              <a:rPr lang="en">
                <a:solidFill>
                  <a:srgbClr val="000000"/>
                </a:solidFill>
              </a:rPr>
              <a:t>NETWORKS</a:t>
            </a:r>
            <a:r>
              <a:rPr lang="en">
                <a:solidFill>
                  <a:srgbClr val="000000"/>
                </a:solidFill>
              </a:rPr>
              <a:t> - TEAM 21</a:t>
            </a:r>
            <a:endParaRPr>
              <a:solidFill>
                <a:srgbClr val="000000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"/>
          <p:cNvSpPr txBox="1"/>
          <p:nvPr>
            <p:ph type="title"/>
          </p:nvPr>
        </p:nvSpPr>
        <p:spPr>
          <a:xfrm>
            <a:off x="228600" y="613525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Problem Statement &amp; Objectives</a:t>
            </a:r>
            <a:endParaRPr/>
          </a:p>
        </p:txBody>
      </p:sp>
      <p:sp>
        <p:nvSpPr>
          <p:cNvPr id="430" name="Google Shape;430;p3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Computer Networks</a:t>
            </a:r>
            <a:endParaRPr/>
          </a:p>
        </p:txBody>
      </p:sp>
      <p:sp>
        <p:nvSpPr>
          <p:cNvPr id="431" name="Google Shape;431;p3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TLS Fingerprinting</a:t>
            </a:r>
            <a:endParaRPr/>
          </a:p>
        </p:txBody>
      </p:sp>
      <p:sp>
        <p:nvSpPr>
          <p:cNvPr id="432" name="Google Shape;432;p3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/>
              <a:t>TEAM 21</a:t>
            </a:r>
            <a:endParaRPr/>
          </a:p>
        </p:txBody>
      </p:sp>
      <p:sp>
        <p:nvSpPr>
          <p:cNvPr id="433" name="Google Shape;433;p32"/>
          <p:cNvSpPr txBox="1"/>
          <p:nvPr>
            <p:ph idx="8" type="body"/>
          </p:nvPr>
        </p:nvSpPr>
        <p:spPr>
          <a:xfrm>
            <a:off x="210225" y="1187575"/>
            <a:ext cx="5026800" cy="658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TLS encrypts application data, but security teams still need to know which application is talking</a:t>
            </a:r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5665125" y="1019725"/>
            <a:ext cx="2700000" cy="31092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5" name="Google Shape;435;p32"/>
          <p:cNvSpPr txBox="1"/>
          <p:nvPr>
            <p:ph idx="1" type="subTitle"/>
          </p:nvPr>
        </p:nvSpPr>
        <p:spPr>
          <a:xfrm>
            <a:off x="5940496" y="1187577"/>
            <a:ext cx="24492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436" name="Google Shape;436;p32"/>
          <p:cNvSpPr txBox="1"/>
          <p:nvPr>
            <p:ph idx="8" type="body"/>
          </p:nvPr>
        </p:nvSpPr>
        <p:spPr>
          <a:xfrm>
            <a:off x="5900925" y="1535450"/>
            <a:ext cx="2449200" cy="658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Identify &gt;= 5 distinct clients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purely from their TLS handshake — curl, browsers, and a hand-built client, with no decryption involved.</a:t>
            </a:r>
            <a:endParaRPr/>
          </a:p>
        </p:txBody>
      </p:sp>
      <p:sp>
        <p:nvSpPr>
          <p:cNvPr id="437" name="Google Shape;437;p32"/>
          <p:cNvSpPr txBox="1"/>
          <p:nvPr>
            <p:ph idx="5" type="subTitle"/>
          </p:nvPr>
        </p:nvSpPr>
        <p:spPr>
          <a:xfrm>
            <a:off x="-1257282" y="2762488"/>
            <a:ext cx="1123500" cy="22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38" name="Google Shape;438;p32"/>
          <p:cNvSpPr txBox="1"/>
          <p:nvPr>
            <p:ph idx="5" type="subTitle"/>
          </p:nvPr>
        </p:nvSpPr>
        <p:spPr>
          <a:xfrm>
            <a:off x="-1769539" y="3140813"/>
            <a:ext cx="1471200" cy="22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39" name="Google Shape;439;p32"/>
          <p:cNvSpPr txBox="1"/>
          <p:nvPr>
            <p:ph idx="5" type="subTitle"/>
          </p:nvPr>
        </p:nvSpPr>
        <p:spPr>
          <a:xfrm>
            <a:off x="-1622696" y="3519150"/>
            <a:ext cx="1177500" cy="22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0" name="Google Shape;440;p32"/>
          <p:cNvSpPr txBox="1"/>
          <p:nvPr>
            <p:ph idx="8" type="body"/>
          </p:nvPr>
        </p:nvSpPr>
        <p:spPr>
          <a:xfrm>
            <a:off x="184600" y="1930775"/>
            <a:ext cx="5026800" cy="1542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TLS handshake steps</a:t>
            </a:r>
            <a:br>
              <a:rPr lang="en"/>
            </a:br>
            <a:r>
              <a:rPr lang="en"/>
              <a:t>   </a:t>
            </a:r>
            <a:r>
              <a:rPr lang="en"/>
              <a:t>Client hello</a:t>
            </a:r>
            <a:br>
              <a:rPr lang="en"/>
            </a:br>
            <a:r>
              <a:rPr lang="en"/>
              <a:t>    Server hello+certificate</a:t>
            </a:r>
            <a:br>
              <a:rPr lang="en"/>
            </a:br>
            <a:r>
              <a:rPr lang="en"/>
              <a:t>    Encrypted communication</a:t>
            </a: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441" name="Google Shape;441;p32"/>
          <p:cNvSpPr txBox="1"/>
          <p:nvPr>
            <p:ph idx="8" type="body"/>
          </p:nvPr>
        </p:nvSpPr>
        <p:spPr>
          <a:xfrm>
            <a:off x="5900925" y="2171450"/>
            <a:ext cx="2449200" cy="658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 </a:t>
            </a:r>
            <a:r>
              <a:rPr b="1" lang="en"/>
              <a:t>Compute JA3 / JA3S and JA4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legacy order-sensitive fingerprint and the modern sort-then-hash fingerprint, side by side.</a:t>
            </a:r>
            <a:endParaRPr/>
          </a:p>
        </p:txBody>
      </p:sp>
      <p:sp>
        <p:nvSpPr>
          <p:cNvPr id="442" name="Google Shape;442;p32"/>
          <p:cNvSpPr txBox="1"/>
          <p:nvPr>
            <p:ph idx="8" type="body"/>
          </p:nvPr>
        </p:nvSpPr>
        <p:spPr>
          <a:xfrm>
            <a:off x="5900925" y="2865875"/>
            <a:ext cx="2449200" cy="7785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8"/>
              <a:t>3.</a:t>
            </a:r>
            <a:r>
              <a:rPr b="1" lang="en" sz="3208"/>
              <a:t> Expose JA3's blind spot</a:t>
            </a:r>
            <a:endParaRPr b="1" sz="3208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300"/>
              <a:t>Chrome (since ~2020) randomizes TLS extension order per connection, deliberately breaking naive matching.</a:t>
            </a:r>
            <a:endParaRPr sz="3300"/>
          </a:p>
        </p:txBody>
      </p:sp>
      <p:sp>
        <p:nvSpPr>
          <p:cNvPr id="443" name="Google Shape;443;p32"/>
          <p:cNvSpPr txBox="1"/>
          <p:nvPr>
            <p:ph idx="8" type="body"/>
          </p:nvPr>
        </p:nvSpPr>
        <p:spPr>
          <a:xfrm>
            <a:off x="210225" y="4040625"/>
            <a:ext cx="5026800" cy="36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11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3"/>
          <p:cNvSpPr txBox="1"/>
          <p:nvPr>
            <p:ph type="title"/>
          </p:nvPr>
        </p:nvSpPr>
        <p:spPr>
          <a:xfrm>
            <a:off x="164000" y="462675"/>
            <a:ext cx="87729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Methodology, </a:t>
            </a:r>
            <a:r>
              <a:rPr lang="en"/>
              <a:t>Architecture &amp; Mechanism</a:t>
            </a:r>
            <a:endParaRPr/>
          </a:p>
        </p:txBody>
      </p:sp>
      <p:sp>
        <p:nvSpPr>
          <p:cNvPr id="449" name="Google Shape;449;p33"/>
          <p:cNvSpPr/>
          <p:nvPr/>
        </p:nvSpPr>
        <p:spPr>
          <a:xfrm>
            <a:off x="157838" y="2360924"/>
            <a:ext cx="1144200" cy="89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0" name="Google Shape;450;p33"/>
          <p:cNvSpPr txBox="1"/>
          <p:nvPr>
            <p:ph idx="5" type="subTitle"/>
          </p:nvPr>
        </p:nvSpPr>
        <p:spPr>
          <a:xfrm>
            <a:off x="259988" y="2618625"/>
            <a:ext cx="939900" cy="503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b="1" lang="en" sz="1420">
                <a:solidFill>
                  <a:srgbClr val="000000"/>
                </a:solidFill>
              </a:rPr>
              <a:t>Sniff/ PCAP</a:t>
            </a:r>
            <a:endParaRPr b="1" sz="1420">
              <a:solidFill>
                <a:srgbClr val="000000"/>
              </a:solidFill>
            </a:endParaRPr>
          </a:p>
        </p:txBody>
      </p:sp>
      <p:sp>
        <p:nvSpPr>
          <p:cNvPr id="451" name="Google Shape;451;p33"/>
          <p:cNvSpPr/>
          <p:nvPr/>
        </p:nvSpPr>
        <p:spPr>
          <a:xfrm>
            <a:off x="1538488" y="2264125"/>
            <a:ext cx="1344000" cy="93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2" name="Google Shape;452;p33"/>
          <p:cNvSpPr txBox="1"/>
          <p:nvPr>
            <p:ph idx="5" type="subTitle"/>
          </p:nvPr>
        </p:nvSpPr>
        <p:spPr>
          <a:xfrm>
            <a:off x="1607513" y="2394076"/>
            <a:ext cx="1275000" cy="89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Extract client/server hello </a:t>
            </a:r>
            <a:endParaRPr b="1" sz="1400">
              <a:solidFill>
                <a:srgbClr val="000000"/>
              </a:solidFill>
            </a:endParaRPr>
          </a:p>
        </p:txBody>
      </p:sp>
      <p:sp>
        <p:nvSpPr>
          <p:cNvPr id="453" name="Google Shape;453;p33"/>
          <p:cNvSpPr/>
          <p:nvPr/>
        </p:nvSpPr>
        <p:spPr>
          <a:xfrm>
            <a:off x="3046188" y="2264125"/>
            <a:ext cx="1416900" cy="10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3"/>
          <p:cNvSpPr txBox="1"/>
          <p:nvPr>
            <p:ph idx="5" type="subTitle"/>
          </p:nvPr>
        </p:nvSpPr>
        <p:spPr>
          <a:xfrm>
            <a:off x="3118938" y="2394075"/>
            <a:ext cx="1344000" cy="748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b="1" lang="en" sz="1400">
                <a:solidFill>
                  <a:srgbClr val="000000"/>
                </a:solidFill>
              </a:rPr>
              <a:t>Parsing Handshake fields</a:t>
            </a:r>
            <a:endParaRPr b="1" sz="1400">
              <a:solidFill>
                <a:srgbClr val="000000"/>
              </a:solidFill>
            </a:endParaRPr>
          </a:p>
        </p:txBody>
      </p:sp>
      <p:sp>
        <p:nvSpPr>
          <p:cNvPr id="455" name="Google Shape;455;p33"/>
          <p:cNvSpPr/>
          <p:nvPr/>
        </p:nvSpPr>
        <p:spPr>
          <a:xfrm>
            <a:off x="4626788" y="2264125"/>
            <a:ext cx="1344000" cy="10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3"/>
          <p:cNvSpPr txBox="1"/>
          <p:nvPr>
            <p:ph idx="5" type="subTitle"/>
          </p:nvPr>
        </p:nvSpPr>
        <p:spPr>
          <a:xfrm>
            <a:off x="4695788" y="2530375"/>
            <a:ext cx="1275000" cy="575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2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5600">
                <a:solidFill>
                  <a:srgbClr val="000000"/>
                </a:solidFill>
              </a:rPr>
              <a:t>Generate</a:t>
            </a:r>
            <a:br>
              <a:rPr b="1" lang="en" sz="5600">
                <a:solidFill>
                  <a:srgbClr val="000000"/>
                </a:solidFill>
              </a:rPr>
            </a:br>
            <a:r>
              <a:rPr b="1" lang="en" sz="5600">
                <a:solidFill>
                  <a:srgbClr val="000000"/>
                </a:solidFill>
              </a:rPr>
              <a:t>JA3, JA3s, JA4</a:t>
            </a:r>
            <a:endParaRPr b="1" sz="5600">
              <a:solidFill>
                <a:srgbClr val="000000"/>
              </a:solidFill>
            </a:endParaRPr>
          </a:p>
        </p:txBody>
      </p:sp>
      <p:sp>
        <p:nvSpPr>
          <p:cNvPr id="457" name="Google Shape;457;p33"/>
          <p:cNvSpPr/>
          <p:nvPr/>
        </p:nvSpPr>
        <p:spPr>
          <a:xfrm>
            <a:off x="6134488" y="2264125"/>
            <a:ext cx="1344000" cy="10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8" name="Google Shape;458;p33"/>
          <p:cNvSpPr txBox="1"/>
          <p:nvPr>
            <p:ph idx="5" type="subTitle"/>
          </p:nvPr>
        </p:nvSpPr>
        <p:spPr>
          <a:xfrm>
            <a:off x="6167125" y="2573201"/>
            <a:ext cx="12750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b="1" lang="en" sz="1400">
                <a:solidFill>
                  <a:srgbClr val="000000"/>
                </a:solidFill>
              </a:rPr>
              <a:t>Hashing </a:t>
            </a:r>
            <a:br>
              <a:rPr b="1" lang="en" sz="1400">
                <a:solidFill>
                  <a:srgbClr val="000000"/>
                </a:solidFill>
              </a:rPr>
            </a:br>
            <a:r>
              <a:rPr b="1" lang="en" sz="1400">
                <a:solidFill>
                  <a:srgbClr val="000000"/>
                </a:solidFill>
              </a:rPr>
              <a:t>JA3 &amp; JA4</a:t>
            </a:r>
            <a:endParaRPr b="1" sz="1400">
              <a:solidFill>
                <a:srgbClr val="000000"/>
              </a:solidFill>
            </a:endParaRPr>
          </a:p>
        </p:txBody>
      </p:sp>
      <p:sp>
        <p:nvSpPr>
          <p:cNvPr id="459" name="Google Shape;459;p33"/>
          <p:cNvSpPr/>
          <p:nvPr/>
        </p:nvSpPr>
        <p:spPr>
          <a:xfrm>
            <a:off x="7642163" y="2264125"/>
            <a:ext cx="1344000" cy="98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0" name="Google Shape;460;p33"/>
          <p:cNvSpPr txBox="1"/>
          <p:nvPr>
            <p:ph idx="5" type="subTitle"/>
          </p:nvPr>
        </p:nvSpPr>
        <p:spPr>
          <a:xfrm>
            <a:off x="7674788" y="2573200"/>
            <a:ext cx="1275000" cy="33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DB Matching</a:t>
            </a:r>
            <a:endParaRPr b="1" sz="1400">
              <a:solidFill>
                <a:srgbClr val="000000"/>
              </a:solidFill>
            </a:endParaRPr>
          </a:p>
        </p:txBody>
      </p:sp>
      <p:cxnSp>
        <p:nvCxnSpPr>
          <p:cNvPr id="461" name="Google Shape;461;p33"/>
          <p:cNvCxnSpPr/>
          <p:nvPr/>
        </p:nvCxnSpPr>
        <p:spPr>
          <a:xfrm>
            <a:off x="1338525" y="2771225"/>
            <a:ext cx="1635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33"/>
          <p:cNvCxnSpPr>
            <a:endCxn id="453" idx="1"/>
          </p:cNvCxnSpPr>
          <p:nvPr/>
        </p:nvCxnSpPr>
        <p:spPr>
          <a:xfrm>
            <a:off x="2878488" y="2762875"/>
            <a:ext cx="167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" name="Google Shape;463;p33"/>
          <p:cNvCxnSpPr>
            <a:endCxn id="455" idx="1"/>
          </p:cNvCxnSpPr>
          <p:nvPr/>
        </p:nvCxnSpPr>
        <p:spPr>
          <a:xfrm>
            <a:off x="4474088" y="2762875"/>
            <a:ext cx="152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33"/>
          <p:cNvCxnSpPr>
            <a:endCxn id="457" idx="1"/>
          </p:cNvCxnSpPr>
          <p:nvPr/>
        </p:nvCxnSpPr>
        <p:spPr>
          <a:xfrm flipH="1" rot="10800000">
            <a:off x="5973688" y="2773675"/>
            <a:ext cx="1608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33"/>
          <p:cNvCxnSpPr>
            <a:endCxn id="459" idx="1"/>
          </p:cNvCxnSpPr>
          <p:nvPr/>
        </p:nvCxnSpPr>
        <p:spPr>
          <a:xfrm>
            <a:off x="7474763" y="2756875"/>
            <a:ext cx="1674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6" name="Google Shape;466;p33"/>
          <p:cNvSpPr txBox="1"/>
          <p:nvPr>
            <p:ph idx="1" type="subTitle"/>
          </p:nvPr>
        </p:nvSpPr>
        <p:spPr>
          <a:xfrm>
            <a:off x="855750" y="3557288"/>
            <a:ext cx="51996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JA3  =  MD5( Version, Ciphers, Extensions, Curves, PointFormats ) </a:t>
            </a:r>
            <a:endParaRPr sz="1400"/>
          </a:p>
        </p:txBody>
      </p:sp>
      <p:sp>
        <p:nvSpPr>
          <p:cNvPr id="467" name="Google Shape;467;p33"/>
          <p:cNvSpPr txBox="1"/>
          <p:nvPr>
            <p:ph idx="1" type="subTitle"/>
          </p:nvPr>
        </p:nvSpPr>
        <p:spPr>
          <a:xfrm>
            <a:off x="855750" y="3989350"/>
            <a:ext cx="71427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JA4  =  descriptor_a  +  SHA256(sorted ciphers)  +  SHA256(sorted extensions + sig-algs)</a:t>
            </a:r>
            <a:endParaRPr sz="1400"/>
          </a:p>
        </p:txBody>
      </p:sp>
      <p:sp>
        <p:nvSpPr>
          <p:cNvPr id="468" name="Google Shape;468;p3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Computer Networks</a:t>
            </a:r>
            <a:endParaRPr/>
          </a:p>
        </p:txBody>
      </p:sp>
      <p:sp>
        <p:nvSpPr>
          <p:cNvPr id="469" name="Google Shape;469;p3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TLS Fingerprinting</a:t>
            </a:r>
            <a:endParaRPr/>
          </a:p>
        </p:txBody>
      </p:sp>
      <p:sp>
        <p:nvSpPr>
          <p:cNvPr id="470" name="Google Shape;470;p3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/>
              <a:t>TEAM 21</a:t>
            </a:r>
            <a:endParaRPr/>
          </a:p>
        </p:txBody>
      </p:sp>
      <p:sp>
        <p:nvSpPr>
          <p:cNvPr id="471" name="Google Shape;471;p33"/>
          <p:cNvSpPr txBox="1"/>
          <p:nvPr/>
        </p:nvSpPr>
        <p:spPr>
          <a:xfrm>
            <a:off x="134850" y="1140025"/>
            <a:ext cx="8874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get the published reference values of newer version of tls clients we have run the publicly available scripts of JA3 ,JA3S and JA4.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"/>
          <p:cNvSpPr txBox="1"/>
          <p:nvPr>
            <p:ph type="title"/>
          </p:nvPr>
        </p:nvSpPr>
        <p:spPr>
          <a:xfrm>
            <a:off x="581575" y="613525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Evaluation &amp; Results </a:t>
            </a:r>
            <a:r>
              <a:rPr lang="en" sz="1600"/>
              <a:t>(curated database)</a:t>
            </a:r>
            <a:endParaRPr sz="1600"/>
          </a:p>
        </p:txBody>
      </p:sp>
      <p:sp>
        <p:nvSpPr>
          <p:cNvPr id="477" name="Google Shape;477;p34"/>
          <p:cNvSpPr txBox="1"/>
          <p:nvPr>
            <p:ph idx="1" type="subTitle"/>
          </p:nvPr>
        </p:nvSpPr>
        <p:spPr>
          <a:xfrm>
            <a:off x="-3957000" y="384925"/>
            <a:ext cx="2881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4"/>
          <p:cNvSpPr txBox="1"/>
          <p:nvPr>
            <p:ph idx="8" type="body"/>
          </p:nvPr>
        </p:nvSpPr>
        <p:spPr>
          <a:xfrm flipH="1" rot="10800000">
            <a:off x="-1461150" y="78325"/>
            <a:ext cx="1427700" cy="535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4"/>
          <p:cNvSpPr txBox="1"/>
          <p:nvPr>
            <p:ph idx="8" type="body"/>
          </p:nvPr>
        </p:nvSpPr>
        <p:spPr>
          <a:xfrm>
            <a:off x="-4860500" y="1019725"/>
            <a:ext cx="4197000" cy="331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4"/>
          <p:cNvSpPr txBox="1"/>
          <p:nvPr>
            <p:ph idx="8" type="body"/>
          </p:nvPr>
        </p:nvSpPr>
        <p:spPr>
          <a:xfrm>
            <a:off x="-2490450" y="3728900"/>
            <a:ext cx="2294700" cy="464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113"/>
          </a:p>
        </p:txBody>
      </p:sp>
      <p:sp>
        <p:nvSpPr>
          <p:cNvPr id="481" name="Google Shape;481;p34"/>
          <p:cNvSpPr txBox="1"/>
          <p:nvPr>
            <p:ph idx="1" type="subTitle"/>
          </p:nvPr>
        </p:nvSpPr>
        <p:spPr>
          <a:xfrm>
            <a:off x="-4152750" y="1861819"/>
            <a:ext cx="3957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4"/>
          <p:cNvSpPr txBox="1"/>
          <p:nvPr>
            <p:ph idx="1" type="subTitle"/>
          </p:nvPr>
        </p:nvSpPr>
        <p:spPr>
          <a:xfrm>
            <a:off x="-2785100" y="3017250"/>
            <a:ext cx="21216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4"/>
          <p:cNvSpPr txBox="1"/>
          <p:nvPr>
            <p:ph idx="2" type="subTitle"/>
          </p:nvPr>
        </p:nvSpPr>
        <p:spPr>
          <a:xfrm>
            <a:off x="320625" y="4685897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Computer Networks</a:t>
            </a:r>
            <a:endParaRPr/>
          </a:p>
        </p:txBody>
      </p:sp>
      <p:sp>
        <p:nvSpPr>
          <p:cNvPr id="484" name="Google Shape;484;p34"/>
          <p:cNvSpPr txBox="1"/>
          <p:nvPr>
            <p:ph idx="3" type="subTitle"/>
          </p:nvPr>
        </p:nvSpPr>
        <p:spPr>
          <a:xfrm>
            <a:off x="4716740" y="4685897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TLS Fingerprinting</a:t>
            </a:r>
            <a:endParaRPr/>
          </a:p>
        </p:txBody>
      </p:sp>
      <p:sp>
        <p:nvSpPr>
          <p:cNvPr id="485" name="Google Shape;485;p34"/>
          <p:cNvSpPr txBox="1"/>
          <p:nvPr>
            <p:ph idx="4" type="subTitle"/>
          </p:nvPr>
        </p:nvSpPr>
        <p:spPr>
          <a:xfrm>
            <a:off x="6859200" y="4693647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/>
              <a:t>TEAM 21</a:t>
            </a:r>
            <a:endParaRPr/>
          </a:p>
        </p:txBody>
      </p:sp>
      <p:sp>
        <p:nvSpPr>
          <p:cNvPr id="486" name="Google Shape;486;p34"/>
          <p:cNvSpPr txBox="1"/>
          <p:nvPr>
            <p:ph idx="8" type="body"/>
          </p:nvPr>
        </p:nvSpPr>
        <p:spPr>
          <a:xfrm>
            <a:off x="-3632250" y="2289350"/>
            <a:ext cx="3436500" cy="331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87" name="Google Shape;487;p34"/>
          <p:cNvGraphicFramePr/>
          <p:nvPr/>
        </p:nvGraphicFramePr>
        <p:xfrm>
          <a:off x="448250" y="14078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{A4453EB1-9182-4FAD-B2E6-EAC0C399E1D1}</a:tableStyleId>
              </a:tblPr>
              <a:tblGrid>
                <a:gridCol w="1441450"/>
                <a:gridCol w="1441450"/>
                <a:gridCol w="1441450"/>
              </a:tblGrid>
              <a:tr h="35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Client</a:t>
                      </a:r>
                      <a:endParaRPr sz="13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JA3</a:t>
                      </a:r>
                      <a:endParaRPr sz="19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JA4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Brave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matched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Matched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Chrome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matched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Matched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Edge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matched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Matched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Curl request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Matched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Matched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Custom Client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Matched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Matched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Chromium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Matched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Matched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8" name="Google Shape;488;p34"/>
          <p:cNvSpPr txBox="1"/>
          <p:nvPr/>
        </p:nvSpPr>
        <p:spPr>
          <a:xfrm>
            <a:off x="5145525" y="1426050"/>
            <a:ext cx="3721500" cy="2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Brave ,chrome ,edges randomizes the extensions order which is causing different JA3 fingerprint for every new connection.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Where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as old browser such as chromium 100 has a single JA3 value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5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5"/>
          <p:cNvSpPr txBox="1"/>
          <p:nvPr>
            <p:ph type="title"/>
          </p:nvPr>
        </p:nvSpPr>
        <p:spPr>
          <a:xfrm>
            <a:off x="228600" y="613525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and Conclusion</a:t>
            </a:r>
            <a:endParaRPr/>
          </a:p>
        </p:txBody>
      </p:sp>
      <p:sp>
        <p:nvSpPr>
          <p:cNvPr id="495" name="Google Shape;495;p3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5"/>
          <p:cNvSpPr txBox="1"/>
          <p:nvPr>
            <p:ph idx="5" type="subTitle"/>
          </p:nvPr>
        </p:nvSpPr>
        <p:spPr>
          <a:xfrm>
            <a:off x="-1712025" y="2000925"/>
            <a:ext cx="1128900" cy="64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5"/>
          <p:cNvSpPr txBox="1"/>
          <p:nvPr>
            <p:ph idx="6" type="subTitle"/>
          </p:nvPr>
        </p:nvSpPr>
        <p:spPr>
          <a:xfrm>
            <a:off x="-1908000" y="50875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5"/>
          <p:cNvSpPr txBox="1"/>
          <p:nvPr>
            <p:ph idx="7" type="subTitle"/>
          </p:nvPr>
        </p:nvSpPr>
        <p:spPr>
          <a:xfrm>
            <a:off x="9230963" y="2132475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5"/>
          <p:cNvSpPr txBox="1"/>
          <p:nvPr>
            <p:ph idx="8" type="body"/>
          </p:nvPr>
        </p:nvSpPr>
        <p:spPr>
          <a:xfrm>
            <a:off x="283350" y="1176050"/>
            <a:ext cx="7113900" cy="1674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Client identification:</a:t>
            </a:r>
            <a:r>
              <a:rPr b="1" lang="en"/>
              <a:t> </a:t>
            </a:r>
            <a:r>
              <a:rPr lang="en"/>
              <a:t>Identify applications/tools such as browsers, curl, and custom TLS clients from their TLS handshake.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Security monitoring:</a:t>
            </a:r>
            <a:r>
              <a:rPr b="1" lang="en"/>
              <a:t> </a:t>
            </a:r>
            <a:r>
              <a:rPr lang="en"/>
              <a:t>Detect unusual or unexpected TLS clients on a network.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Passive analysis:</a:t>
            </a:r>
            <a:r>
              <a:rPr b="1" lang="en"/>
              <a:t> </a:t>
            </a:r>
            <a:r>
              <a:rPr lang="en"/>
              <a:t>Fingerprinting can be performed from captured network traffic without decrypting the TLS payload. </a:t>
            </a:r>
            <a:endParaRPr/>
          </a:p>
        </p:txBody>
      </p:sp>
      <p:sp>
        <p:nvSpPr>
          <p:cNvPr id="502" name="Google Shape;502;p35"/>
          <p:cNvSpPr txBox="1"/>
          <p:nvPr>
            <p:ph idx="13" type="body"/>
          </p:nvPr>
        </p:nvSpPr>
        <p:spPr>
          <a:xfrm>
            <a:off x="-3248325" y="20850"/>
            <a:ext cx="2665200" cy="644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5"/>
          <p:cNvSpPr txBox="1"/>
          <p:nvPr/>
        </p:nvSpPr>
        <p:spPr>
          <a:xfrm>
            <a:off x="228600" y="3006675"/>
            <a:ext cx="56478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Modern techniques such as GREASE and fingerprint randomization can reduce fingerprint stability, highlighting the need for approaches such as JA4 alongside JA3</a:t>
            </a:r>
            <a:r>
              <a:rPr lang="en" sz="1100"/>
              <a:t>.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6"/>
          <p:cNvSpPr txBox="1"/>
          <p:nvPr>
            <p:ph type="title"/>
          </p:nvPr>
        </p:nvSpPr>
        <p:spPr>
          <a:xfrm>
            <a:off x="210225" y="367475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509" name="Google Shape;509;p36"/>
          <p:cNvSpPr txBox="1"/>
          <p:nvPr>
            <p:ph idx="8" type="body"/>
          </p:nvPr>
        </p:nvSpPr>
        <p:spPr>
          <a:xfrm>
            <a:off x="210225" y="939075"/>
            <a:ext cx="8595000" cy="709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</a:t>
            </a:r>
            <a:r>
              <a:rPr b="1" lang="en"/>
              <a:t>Chrome's randomized extension order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   B</a:t>
            </a:r>
            <a:r>
              <a:rPr lang="en"/>
              <a:t>roke naive single-JA3 matching outright — the same install produced a new hash on every connection</a:t>
            </a:r>
            <a:endParaRPr/>
          </a:p>
        </p:txBody>
      </p:sp>
      <p:sp>
        <p:nvSpPr>
          <p:cNvPr id="510" name="Google Shape;510;p36"/>
          <p:cNvSpPr txBox="1"/>
          <p:nvPr>
            <p:ph idx="8" type="body"/>
          </p:nvPr>
        </p:nvSpPr>
        <p:spPr>
          <a:xfrm>
            <a:off x="210225" y="1698575"/>
            <a:ext cx="8595000" cy="709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2</a:t>
            </a:r>
            <a:r>
              <a:rPr b="1" lang="en"/>
              <a:t>. Finding  a database for new clients</a:t>
            </a:r>
            <a:br>
              <a:rPr lang="en"/>
            </a:br>
            <a:r>
              <a:rPr lang="en"/>
              <a:t>     Publicly available JA3 fingerprint databases were often outdated or generated for different OS/client versions</a:t>
            </a:r>
            <a:r>
              <a:rPr lang="en" sz="1100">
                <a:solidFill>
                  <a:srgbClr val="000000"/>
                </a:solidFill>
              </a:rPr>
              <a:t> </a:t>
            </a:r>
            <a:endParaRPr/>
          </a:p>
        </p:txBody>
      </p:sp>
      <p:sp>
        <p:nvSpPr>
          <p:cNvPr id="511" name="Google Shape;511;p36"/>
          <p:cNvSpPr txBox="1"/>
          <p:nvPr>
            <p:ph idx="8" type="body"/>
          </p:nvPr>
        </p:nvSpPr>
        <p:spPr>
          <a:xfrm>
            <a:off x="210225" y="2458075"/>
            <a:ext cx="8595000" cy="709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/>
              <a:t>3. </a:t>
            </a:r>
            <a:r>
              <a:rPr b="1" lang="en" sz="1250"/>
              <a:t>GREASE noise </a:t>
            </a:r>
            <a:endParaRPr b="1" sz="125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  Modern browsers insert random GREASE cipher suites, extensions, and supported groups into the ClientHello.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50"/>
          </a:p>
        </p:txBody>
      </p:sp>
      <p:sp>
        <p:nvSpPr>
          <p:cNvPr id="512" name="Google Shape;512;p36"/>
          <p:cNvSpPr txBox="1"/>
          <p:nvPr>
            <p:ph idx="8" type="body"/>
          </p:nvPr>
        </p:nvSpPr>
        <p:spPr>
          <a:xfrm>
            <a:off x="-3511250" y="3116700"/>
            <a:ext cx="2518800" cy="709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50"/>
          </a:p>
        </p:txBody>
      </p:sp>
      <p:sp>
        <p:nvSpPr>
          <p:cNvPr id="513" name="Google Shape;513;p36"/>
          <p:cNvSpPr txBox="1"/>
          <p:nvPr>
            <p:ph idx="8" type="body"/>
          </p:nvPr>
        </p:nvSpPr>
        <p:spPr>
          <a:xfrm>
            <a:off x="-2946475" y="4027575"/>
            <a:ext cx="2373600" cy="709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50"/>
          </a:p>
        </p:txBody>
      </p:sp>
      <p:sp>
        <p:nvSpPr>
          <p:cNvPr id="514" name="Google Shape;514;p3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Computer Networks</a:t>
            </a:r>
            <a:endParaRPr/>
          </a:p>
        </p:txBody>
      </p:sp>
      <p:sp>
        <p:nvSpPr>
          <p:cNvPr id="515" name="Google Shape;515;p3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TLS Fingerprinting</a:t>
            </a:r>
            <a:endParaRPr/>
          </a:p>
        </p:txBody>
      </p:sp>
      <p:sp>
        <p:nvSpPr>
          <p:cNvPr id="516" name="Google Shape;516;p3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/>
              <a:t>TEAM 21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